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7"/>
  </p:notesMasterIdLst>
  <p:sldIdLst>
    <p:sldId id="274" r:id="rId2"/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-556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2EA3B-AC18-4A99-835F-C90829633178}" type="datetimeFigureOut">
              <a:rPr lang="en-TZ" smtClean="0"/>
              <a:t>02/11/2026</a:t>
            </a:fld>
            <a:endParaRPr lang="en-T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AB4C0-7E3E-4E39-87D7-E88E9710AF0F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519174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40E50-3B7A-4D81-8E34-E38E39A1DC08}" type="datetime8">
              <a:rPr lang="en-TZ" smtClean="0"/>
              <a:t>02/11/2026 19:01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6C4D383-A85A-477C-A9CD-F83D8A1560EC}" type="slidenum">
              <a:rPr lang="en-TZ" smtClean="0"/>
              <a:t>‹#›</a:t>
            </a:fld>
            <a:endParaRPr lang="en-TZ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74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6D63-4D68-4108-812A-20061B09FF08}" type="datetime8">
              <a:rPr lang="en-TZ" smtClean="0"/>
              <a:t>02/11/2026 19:01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4D383-A85A-477C-A9CD-F83D8A1560EC}" type="slidenum">
              <a:rPr lang="en-TZ" smtClean="0"/>
              <a:t>‹#›</a:t>
            </a:fld>
            <a:endParaRPr lang="en-TZ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85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3CDD-EC65-4E26-B546-A9C48B959663}" type="datetime8">
              <a:rPr lang="en-TZ" smtClean="0"/>
              <a:t>02/11/2026 19:01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4D383-A85A-477C-A9CD-F83D8A1560EC}" type="slidenum">
              <a:rPr lang="en-TZ" smtClean="0"/>
              <a:t>‹#›</a:t>
            </a:fld>
            <a:endParaRPr lang="en-T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393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D45-4466-458D-AC2D-C2269C2A8D70}" type="datetime8">
              <a:rPr lang="en-TZ" smtClean="0"/>
              <a:t>02/11/2026 19:01</a:t>
            </a:fld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4D383-A85A-477C-A9CD-F83D8A1560EC}" type="slidenum">
              <a:rPr lang="en-TZ" smtClean="0"/>
              <a:t>‹#›</a:t>
            </a:fld>
            <a:endParaRPr lang="en-TZ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86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9893-D853-423C-B2AB-CC253A112448}" type="datetime8">
              <a:rPr lang="en-TZ" smtClean="0"/>
              <a:t>02/11/2026 19:01</a:t>
            </a:fld>
            <a:endParaRPr lang="en-T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4D383-A85A-477C-A9CD-F83D8A1560EC}" type="slidenum">
              <a:rPr lang="en-TZ" smtClean="0"/>
              <a:t>‹#›</a:t>
            </a:fld>
            <a:endParaRPr lang="en-TZ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472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A76C-2196-4F5C-BDE1-FC3D26F04D56}" type="datetime8">
              <a:rPr lang="en-TZ" smtClean="0"/>
              <a:t>02/11/2026 19:01</a:t>
            </a:fld>
            <a:endParaRPr lang="en-T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4D383-A85A-477C-A9CD-F83D8A1560EC}" type="slidenum">
              <a:rPr lang="en-TZ" smtClean="0"/>
              <a:t>‹#›</a:t>
            </a:fld>
            <a:endParaRPr lang="en-TZ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294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FAAC-334A-43B0-A923-4C7C5376B197}" type="datetime8">
              <a:rPr lang="en-TZ" smtClean="0"/>
              <a:t>02/11/2026 19:01</a:t>
            </a:fld>
            <a:endParaRPr lang="en-T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4D383-A85A-477C-A9CD-F83D8A1560E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776583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C90E-1F52-4B63-A80D-3D557C85C547}" type="datetime8">
              <a:rPr lang="en-TZ" smtClean="0"/>
              <a:t>02/11/2026 19:01</a:t>
            </a:fld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4D383-A85A-477C-A9CD-F83D8A1560EC}" type="slidenum">
              <a:rPr lang="en-TZ" smtClean="0"/>
              <a:t>‹#›</a:t>
            </a:fld>
            <a:endParaRPr lang="en-TZ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58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42947D0-FDBF-4846-B89B-13E61A2ACF44}" type="datetime8">
              <a:rPr lang="en-TZ" smtClean="0"/>
              <a:t>02/11/2026 19:01</a:t>
            </a:fld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4D383-A85A-477C-A9CD-F83D8A1560EC}" type="slidenum">
              <a:rPr lang="en-TZ" smtClean="0"/>
              <a:t>‹#›</a:t>
            </a:fld>
            <a:endParaRPr lang="en-TZ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89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1ABE9-84B4-487D-A899-86320234FCB7}" type="datetime8">
              <a:rPr lang="en-TZ" smtClean="0"/>
              <a:t>02/11/2026 19:01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4D383-A85A-477C-A9CD-F83D8A1560EC}" type="slidenum">
              <a:rPr lang="en-TZ" smtClean="0"/>
              <a:t>‹#›</a:t>
            </a:fld>
            <a:endParaRPr lang="en-TZ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755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0F83B-077D-43AC-A4E4-51CDDC9D7DAF}" type="datetime8">
              <a:rPr lang="en-TZ" smtClean="0"/>
              <a:t>02/11/2026 19:01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4D383-A85A-477C-A9CD-F83D8A1560EC}" type="slidenum">
              <a:rPr lang="en-TZ" smtClean="0"/>
              <a:t>‹#›</a:t>
            </a:fld>
            <a:endParaRPr lang="en-TZ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091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D95A3-1A36-49E9-9C90-161993CEA23B}" type="datetime8">
              <a:rPr lang="en-TZ" smtClean="0"/>
              <a:t>02/11/2026 19:01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6C4D383-A85A-477C-A9CD-F83D8A1560EC}" type="slidenum">
              <a:rPr lang="en-TZ" smtClean="0"/>
              <a:t>‹#›</a:t>
            </a:fld>
            <a:endParaRPr lang="en-TZ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42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742AD3-8703-6714-0C26-20A7FB9790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886" y="679966"/>
            <a:ext cx="3145971" cy="1791091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0B96BF-893E-F609-F2E0-E391BF3D9058}"/>
              </a:ext>
            </a:extLst>
          </p:cNvPr>
          <p:cNvSpPr txBox="1"/>
          <p:nvPr/>
        </p:nvSpPr>
        <p:spPr>
          <a:xfrm>
            <a:off x="380515" y="2555645"/>
            <a:ext cx="112724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SCHOOL OF COMPUTING COMMUNICATION AND MEDIA STUDIES</a:t>
            </a:r>
          </a:p>
          <a:p>
            <a:pPr algn="ctr"/>
            <a:endParaRPr lang="en-TZ" sz="2400" b="1" dirty="0"/>
          </a:p>
          <a:p>
            <a:pPr algn="ctr"/>
            <a:r>
              <a:rPr lang="en-US" sz="2400" b="1" dirty="0"/>
              <a:t>DEPARTMENT OF COMPUTER SCIENCE AND INFORMATION TECHNOLOGY</a:t>
            </a:r>
          </a:p>
          <a:p>
            <a:pPr algn="ctr"/>
            <a:endParaRPr lang="en-TZ" sz="2400" b="1" dirty="0"/>
          </a:p>
          <a:p>
            <a:pPr algn="ctr"/>
            <a:r>
              <a:rPr lang="en-US" sz="2400" b="1" dirty="0"/>
              <a:t>CS/INF 1211 GEOGRAPHICAL INFORMATION SYSTEM</a:t>
            </a:r>
            <a:endParaRPr lang="en-TZ" sz="2400" b="1" dirty="0"/>
          </a:p>
          <a:p>
            <a:pPr algn="ctr"/>
            <a:endParaRPr lang="en-TZ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3A99BD-76E5-3D7C-2927-F7C34D35673F}"/>
              </a:ext>
            </a:extLst>
          </p:cNvPr>
          <p:cNvSpPr txBox="1"/>
          <p:nvPr/>
        </p:nvSpPr>
        <p:spPr>
          <a:xfrm>
            <a:off x="1872343" y="310634"/>
            <a:ext cx="7859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THE STATE UNIVERSITY OF ZANZIBAR (SUZA)</a:t>
            </a:r>
            <a:endParaRPr lang="en-TZ" sz="2400" b="1" dirty="0"/>
          </a:p>
        </p:txBody>
      </p:sp>
    </p:spTree>
    <p:extLst>
      <p:ext uri="{BB962C8B-B14F-4D97-AF65-F5344CB8AC3E}">
        <p14:creationId xmlns:p14="http://schemas.microsoft.com/office/powerpoint/2010/main" val="2648778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C0E012-94D4-D6A7-B426-5D2CF9585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355120"/>
              </p:ext>
            </p:extLst>
          </p:nvPr>
        </p:nvGraphicFramePr>
        <p:xfrm>
          <a:off x="1124262" y="404735"/>
          <a:ext cx="9983450" cy="556134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991725">
                  <a:extLst>
                    <a:ext uri="{9D8B030D-6E8A-4147-A177-3AD203B41FA5}">
                      <a16:colId xmlns:a16="http://schemas.microsoft.com/office/drawing/2014/main" val="2316323075"/>
                    </a:ext>
                  </a:extLst>
                </a:gridCol>
                <a:gridCol w="4991725">
                  <a:extLst>
                    <a:ext uri="{9D8B030D-6E8A-4147-A177-3AD203B41FA5}">
                      <a16:colId xmlns:a16="http://schemas.microsoft.com/office/drawing/2014/main" val="3514871395"/>
                    </a:ext>
                  </a:extLst>
                </a:gridCol>
              </a:tblGrid>
              <a:tr h="505577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</a:rPr>
                        <a:t>PARTICIPANTS	</a:t>
                      </a:r>
                      <a:endParaRPr lang="en-T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</a:rPr>
                        <a:t>REG. NO</a:t>
                      </a:r>
                      <a:endParaRPr lang="en-T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713061"/>
                  </a:ext>
                </a:extLst>
              </a:tr>
              <a:tr h="505577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IRENE IGNASI MSOFE</a:t>
                      </a:r>
                      <a:endParaRPr lang="en-T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24BIT088</a:t>
                      </a:r>
                      <a:endParaRPr lang="en-T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467323"/>
                  </a:ext>
                </a:extLst>
              </a:tr>
              <a:tr h="505577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IS-HAK HAJI JUMA</a:t>
                      </a:r>
                      <a:endParaRPr lang="en-T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24BIT034</a:t>
                      </a:r>
                      <a:endParaRPr lang="en-T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729127"/>
                  </a:ext>
                </a:extLst>
              </a:tr>
              <a:tr h="505577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ISMAIL ALI SALUM</a:t>
                      </a:r>
                      <a:endParaRPr lang="en-T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24BIT019</a:t>
                      </a:r>
                      <a:endParaRPr lang="en-T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469450"/>
                  </a:ext>
                </a:extLst>
              </a:tr>
              <a:tr h="505577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JUMA FAKI HAJI</a:t>
                      </a:r>
                      <a:endParaRPr lang="en-T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24BIT036</a:t>
                      </a:r>
                      <a:endParaRPr lang="en-T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486115"/>
                  </a:ext>
                </a:extLst>
              </a:tr>
              <a:tr h="505577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KHAMIS JUMBE USSI</a:t>
                      </a:r>
                      <a:endParaRPr lang="en-T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24BIT109</a:t>
                      </a:r>
                      <a:endParaRPr lang="en-T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901954"/>
                  </a:ext>
                </a:extLst>
              </a:tr>
              <a:tr h="505577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KHAMIS MAKAME KHAMIS</a:t>
                      </a:r>
                      <a:endParaRPr lang="en-T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24BIT089</a:t>
                      </a:r>
                      <a:endParaRPr lang="en-T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728096"/>
                  </a:ext>
                </a:extLst>
              </a:tr>
              <a:tr h="505577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KHEIR JUMA IBRAHIM</a:t>
                      </a:r>
                      <a:endParaRPr lang="en-T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24BIT001</a:t>
                      </a:r>
                      <a:endParaRPr lang="en-T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089113"/>
                  </a:ext>
                </a:extLst>
              </a:tr>
              <a:tr h="505577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AMINA JUMA HAMAD</a:t>
                      </a:r>
                      <a:endParaRPr lang="en-T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24BCS035</a:t>
                      </a:r>
                      <a:endParaRPr lang="en-T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030786"/>
                  </a:ext>
                </a:extLst>
              </a:tr>
              <a:tr h="505577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FAHAD MOHAMEDI IDRISA	</a:t>
                      </a:r>
                      <a:endParaRPr lang="en-T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24BCS005</a:t>
                      </a:r>
                      <a:endParaRPr lang="en-T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692524"/>
                  </a:ext>
                </a:extLst>
              </a:tr>
              <a:tr h="505577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MOHAMMED MANSAB RAMADHAN</a:t>
                      </a:r>
                      <a:endParaRPr lang="en-TZ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</a:rPr>
                        <a:t>24BIT080</a:t>
                      </a:r>
                      <a:endParaRPr lang="en-TZ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74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704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43687-DB91-D23D-235D-3ED85ADA4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1027148"/>
            <a:ext cx="8637073" cy="2541431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Web-Based GIS for Mapping Recreational and Sports Facilities in Unguja, Zanzibar</a:t>
            </a:r>
            <a:endParaRPr lang="en-TZ" sz="4400" dirty="0"/>
          </a:p>
        </p:txBody>
      </p:sp>
    </p:spTree>
    <p:extLst>
      <p:ext uri="{BB962C8B-B14F-4D97-AF65-F5344CB8AC3E}">
        <p14:creationId xmlns:p14="http://schemas.microsoft.com/office/powerpoint/2010/main" val="590711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62DD2-CE36-64D2-1920-262D6A757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A7737-BD79-E394-AE93-EB84C3F7A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GIS helps us work with location-based information</a:t>
            </a:r>
          </a:p>
          <a:p>
            <a:r>
              <a:rPr lang="en-US" dirty="0"/>
              <a:t>Today, GIS is no longer only on desktops</a:t>
            </a:r>
          </a:p>
          <a:p>
            <a:r>
              <a:rPr lang="en-US" dirty="0"/>
              <a:t>Web GIS allows maps to be accessed through browsers</a:t>
            </a:r>
          </a:p>
          <a:p>
            <a:r>
              <a:rPr lang="en-US" dirty="0"/>
              <a:t>This makes spatial information easier to share</a:t>
            </a:r>
          </a:p>
          <a:p>
            <a:r>
              <a:rPr lang="en-US" dirty="0"/>
              <a:t>Recreational facilities are important for health and social life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389587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7D0DF-9014-A77D-7B6D-E7CA3C6FC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Background of the Study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0AA1E-0357-639B-ED07-67DA9C5F0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Sports and recreational facilities support youth and community development</a:t>
            </a:r>
          </a:p>
          <a:p>
            <a:r>
              <a:rPr lang="en-US" dirty="0"/>
              <a:t>Unguja Island is growing fast in terms of population and urban areas</a:t>
            </a:r>
          </a:p>
          <a:p>
            <a:r>
              <a:rPr lang="en-US" dirty="0"/>
              <a:t>Proper planning of facilities is becoming more important</a:t>
            </a:r>
          </a:p>
          <a:p>
            <a:r>
              <a:rPr lang="en-US" dirty="0"/>
              <a:t>However, information about these facilities is not well organized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802268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F0BE9-34EC-31A1-E4DE-802440238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Problem Statement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8D437-C64F-DD5D-EE4A-C7B765980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centralized system for mapping sports facilities in Unguja</a:t>
            </a:r>
          </a:p>
          <a:p>
            <a:r>
              <a:rPr lang="en-US" dirty="0"/>
              <a:t>Residents struggle to locate nearby facilities</a:t>
            </a:r>
          </a:p>
          <a:p>
            <a:r>
              <a:rPr lang="en-US" dirty="0"/>
              <a:t>Planners lack spatial data for decision-making</a:t>
            </a:r>
          </a:p>
          <a:p>
            <a:r>
              <a:rPr lang="en-US" dirty="0"/>
              <a:t>Unequal access to recreational services</a:t>
            </a:r>
          </a:p>
          <a:p>
            <a:r>
              <a:rPr lang="en-US" dirty="0"/>
              <a:t>Need for an interactive Web GIS solution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629169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D430D-933E-98C8-DF90-1E15B0C6F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F2D05-9930-4249-24B9-F1584518D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General Objective</a:t>
            </a:r>
          </a:p>
          <a:p>
            <a:r>
              <a:rPr lang="en-US" dirty="0"/>
              <a:t>To develop a Web-Based GIS for mapping recreational and sports facilities in Unguja</a:t>
            </a:r>
          </a:p>
          <a:p>
            <a:r>
              <a:rPr lang="en-US" b="1" dirty="0"/>
              <a:t>Specific Objectives</a:t>
            </a:r>
          </a:p>
          <a:p>
            <a:r>
              <a:rPr lang="en-US" dirty="0"/>
              <a:t>Collect spatial data of recreational facilities</a:t>
            </a:r>
          </a:p>
          <a:p>
            <a:r>
              <a:rPr lang="en-US" dirty="0"/>
              <a:t>Process data using QGIS</a:t>
            </a:r>
          </a:p>
          <a:p>
            <a:r>
              <a:rPr lang="en-US" dirty="0"/>
              <a:t>Convert data into </a:t>
            </a:r>
            <a:r>
              <a:rPr lang="en-US" dirty="0" err="1"/>
              <a:t>GeoJSON</a:t>
            </a:r>
            <a:endParaRPr lang="en-US" dirty="0"/>
          </a:p>
          <a:p>
            <a:r>
              <a:rPr lang="en-US" dirty="0"/>
              <a:t>Develop an interactive map using Leaflet.js</a:t>
            </a:r>
          </a:p>
          <a:p>
            <a:r>
              <a:rPr lang="en-US" dirty="0"/>
              <a:t>Display facility information using pop-ups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518751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E66CB-EF58-12A7-9D7F-C8979DAD6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Study Area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26A4E-923E-A3F8-2EC3-11ED880E6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Unguja Island, Zanzibar</a:t>
            </a:r>
          </a:p>
          <a:p>
            <a:r>
              <a:rPr lang="en-US" dirty="0"/>
              <a:t>Located off the East African coast</a:t>
            </a:r>
          </a:p>
          <a:p>
            <a:r>
              <a:rPr lang="en-US" dirty="0"/>
              <a:t>Latitude: 6°00′–6°30′ South</a:t>
            </a:r>
          </a:p>
          <a:p>
            <a:r>
              <a:rPr lang="en-US" dirty="0"/>
              <a:t>Longitude: 39°00′–39°30′ East</a:t>
            </a:r>
          </a:p>
          <a:p>
            <a:r>
              <a:rPr lang="en-US" dirty="0"/>
              <a:t>Urban and rural land use patterns</a:t>
            </a:r>
          </a:p>
          <a:p>
            <a:endParaRPr lang="en-T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486D4-7BC1-73B8-5A1A-CD224EADB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220" y="1889070"/>
            <a:ext cx="2509993" cy="370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92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01290-6497-4DF7-012D-F4DB2FC42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Used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A9EBA-ADAA-CC8B-735E-8BF214945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Administrative boundaries</a:t>
            </a:r>
          </a:p>
          <a:p>
            <a:r>
              <a:rPr lang="en-US" dirty="0"/>
              <a:t>Road networks</a:t>
            </a:r>
          </a:p>
          <a:p>
            <a:r>
              <a:rPr lang="en-US" dirty="0"/>
              <a:t>Recreational and sports facilities</a:t>
            </a:r>
          </a:p>
          <a:p>
            <a:r>
              <a:rPr lang="en-US" dirty="0"/>
              <a:t>Data source: OpenStreetMap</a:t>
            </a:r>
          </a:p>
          <a:p>
            <a:r>
              <a:rPr lang="en-US" dirty="0"/>
              <a:t>Coordinate System: WGS 84 (EPSG:4326)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33165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D1E47-0C65-DB71-FA7F-9974FDB4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AA966-B221-C226-1BE6-5B08753DA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collection from OpenStreetMap</a:t>
            </a:r>
          </a:p>
          <a:p>
            <a:r>
              <a:rPr lang="en-US" dirty="0"/>
              <a:t>Data cleaning and editing in QGIS</a:t>
            </a:r>
          </a:p>
          <a:p>
            <a:r>
              <a:rPr lang="en-US" dirty="0"/>
              <a:t>Conversion to </a:t>
            </a:r>
            <a:r>
              <a:rPr lang="en-US" dirty="0" err="1"/>
              <a:t>GeoJSON</a:t>
            </a:r>
            <a:r>
              <a:rPr lang="en-US" dirty="0"/>
              <a:t> format</a:t>
            </a:r>
          </a:p>
          <a:p>
            <a:r>
              <a:rPr lang="en-US" dirty="0"/>
              <a:t>Web map development using Leaflet.js</a:t>
            </a:r>
          </a:p>
          <a:p>
            <a:r>
              <a:rPr lang="en-US" dirty="0"/>
              <a:t>Testing and validation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769179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6BED-A1BE-770A-D57B-CC734C641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System Design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C26E6-81A0-64E2-E518-632F32780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Client-side Web GIS architecture</a:t>
            </a:r>
          </a:p>
          <a:p>
            <a:r>
              <a:rPr lang="en-US" dirty="0"/>
              <a:t>Web browser as user interface</a:t>
            </a:r>
          </a:p>
          <a:p>
            <a:r>
              <a:rPr lang="en-US" dirty="0"/>
              <a:t>Leaflet.js for map rendering</a:t>
            </a:r>
          </a:p>
          <a:p>
            <a:r>
              <a:rPr lang="en-US" dirty="0" err="1"/>
              <a:t>GeoJSON</a:t>
            </a:r>
            <a:r>
              <a:rPr lang="en-US" dirty="0"/>
              <a:t> for spatial data storage</a:t>
            </a:r>
          </a:p>
          <a:p>
            <a:r>
              <a:rPr lang="en-US" dirty="0"/>
              <a:t>Interactive layers and pop-ups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025862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64BA-27F9-FD63-FED4-6EA7021EF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Implementation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A099D-C722-8AC8-A85A-6AE433D3A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was used to create the web page</a:t>
            </a:r>
          </a:p>
          <a:p>
            <a:r>
              <a:rPr lang="en-US" dirty="0"/>
              <a:t>CSS was used for layout and styling</a:t>
            </a:r>
          </a:p>
          <a:p>
            <a:r>
              <a:rPr lang="en-US" dirty="0"/>
              <a:t>JavaScript handled map functions</a:t>
            </a:r>
          </a:p>
          <a:p>
            <a:r>
              <a:rPr lang="en-US" dirty="0"/>
              <a:t>OpenStreetMap was used as the base map</a:t>
            </a:r>
          </a:p>
          <a:p>
            <a:r>
              <a:rPr lang="en-US" dirty="0"/>
              <a:t>Layer controls were added for interaction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88334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E9AE-FAEA-CAED-CFCE-3B6EF1DC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9A768-F54A-339C-07C6-9E07B8C47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Sports facilities are clearly displayed on the map</a:t>
            </a:r>
          </a:p>
          <a:p>
            <a:r>
              <a:rPr lang="en-US" dirty="0"/>
              <a:t>Users can zoom, pan, and click on facilities</a:t>
            </a:r>
          </a:p>
          <a:p>
            <a:r>
              <a:rPr lang="en-US" dirty="0"/>
              <a:t>Pop-ups show facility details</a:t>
            </a:r>
          </a:p>
          <a:p>
            <a:r>
              <a:rPr lang="en-US" dirty="0"/>
              <a:t>Layers can be turned on and off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246380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F5C00-2795-BD22-32A8-447D266C4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Discussion 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40EF8-EE2B-3165-53BC-C9F7599FA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makes spatial data easy to understand</a:t>
            </a:r>
          </a:p>
          <a:p>
            <a:r>
              <a:rPr lang="en-US" dirty="0"/>
              <a:t>It helps both the public and planners</a:t>
            </a:r>
          </a:p>
          <a:p>
            <a:r>
              <a:rPr lang="en-US" dirty="0"/>
              <a:t>Web GIS improves access to information</a:t>
            </a:r>
          </a:p>
          <a:p>
            <a:r>
              <a:rPr lang="en-US" dirty="0"/>
              <a:t>Data quality depends on the source used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455647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A950-D82A-7480-F6C8-49A5E17AB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11500" b="1" dirty="0"/>
              <a:t>Thank You</a:t>
            </a:r>
            <a:endParaRPr lang="en-TZ" sz="11500" dirty="0"/>
          </a:p>
        </p:txBody>
      </p:sp>
    </p:spTree>
    <p:extLst>
      <p:ext uri="{BB962C8B-B14F-4D97-AF65-F5344CB8AC3E}">
        <p14:creationId xmlns:p14="http://schemas.microsoft.com/office/powerpoint/2010/main" val="38152431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77</TotalTime>
  <Words>454</Words>
  <Application>Microsoft Office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Gill Sans MT</vt:lpstr>
      <vt:lpstr>Gallery</vt:lpstr>
      <vt:lpstr>PowerPoint Presentation</vt:lpstr>
      <vt:lpstr>PowerPoint Presentation</vt:lpstr>
      <vt:lpstr>Web-Based GIS for Mapping Recreational and Sports Facilities in Unguja, Zanzibar</vt:lpstr>
      <vt:lpstr>Introduction</vt:lpstr>
      <vt:lpstr>Background of the Study</vt:lpstr>
      <vt:lpstr>Problem Statement</vt:lpstr>
      <vt:lpstr>Objectives</vt:lpstr>
      <vt:lpstr>Study Area</vt:lpstr>
      <vt:lpstr>Data Used</vt:lpstr>
      <vt:lpstr>Methodology</vt:lpstr>
      <vt:lpstr>System Design</vt:lpstr>
      <vt:lpstr>Implementation</vt:lpstr>
      <vt:lpstr>Results</vt:lpstr>
      <vt:lpstr>Discussion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XS0ulR3aperX</dc:creator>
  <cp:lastModifiedBy>kheir .</cp:lastModifiedBy>
  <cp:revision>2</cp:revision>
  <dcterms:created xsi:type="dcterms:W3CDTF">2026-02-11T07:10:10Z</dcterms:created>
  <dcterms:modified xsi:type="dcterms:W3CDTF">2026-02-11T16:04:49Z</dcterms:modified>
</cp:coreProperties>
</file>